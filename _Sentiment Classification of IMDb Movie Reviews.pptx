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Roboto Slab"/>
      <p:regular r:id="rId15"/>
      <p:bold r:id="rId16"/>
    </p:embeddedFont>
    <p:embeddedFont>
      <p:font typeface="Roboto"/>
      <p:regular r:id="rId17"/>
      <p:bold r:id="rId18"/>
      <p:italic r:id="rId19"/>
      <p:boldItalic r:id="rId20"/>
    </p:embeddedFont>
    <p:embeddedFont>
      <p:font typeface="Roboto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8916E17-5973-4076-B619-984AA0BE7B1D}">
  <a:tblStyle styleId="{E8916E17-5973-4076-B619-984AA0BE7B1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22" Type="http://schemas.openxmlformats.org/officeDocument/2006/relationships/font" Target="fonts/RobotoMono-bold.fntdata"/><Relationship Id="rId10" Type="http://schemas.openxmlformats.org/officeDocument/2006/relationships/slide" Target="slides/slide4.xml"/><Relationship Id="rId21" Type="http://schemas.openxmlformats.org/officeDocument/2006/relationships/font" Target="fonts/RobotoMono-regular.fntdata"/><Relationship Id="rId13" Type="http://schemas.openxmlformats.org/officeDocument/2006/relationships/slide" Target="slides/slide7.xml"/><Relationship Id="rId24" Type="http://schemas.openxmlformats.org/officeDocument/2006/relationships/font" Target="fonts/RobotoMono-boldItalic.fntdata"/><Relationship Id="rId12" Type="http://schemas.openxmlformats.org/officeDocument/2006/relationships/slide" Target="slides/slide6.xml"/><Relationship Id="rId23" Type="http://schemas.openxmlformats.org/officeDocument/2006/relationships/font" Target="fonts/RobotoMon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Slab-regular.fntdata"/><Relationship Id="rId14" Type="http://schemas.openxmlformats.org/officeDocument/2006/relationships/slide" Target="slides/slide8.xml"/><Relationship Id="rId17" Type="http://schemas.openxmlformats.org/officeDocument/2006/relationships/font" Target="fonts/Roboto-regular.fntdata"/><Relationship Id="rId16" Type="http://schemas.openxmlformats.org/officeDocument/2006/relationships/font" Target="fonts/RobotoSlab-bold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c6f75fc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c6f75fc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6f75fce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c6f75fce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c6f75fceb_0_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c6f75fce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c6f75fceb_0_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c6f75fce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6f75fceb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6f75fce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c6f75fce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c6f75fce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c6f75fceb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c6f75fceb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c6f75fceb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c6f75fceb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453275" y="793100"/>
            <a:ext cx="6374700" cy="237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Arial"/>
                <a:ea typeface="Arial"/>
                <a:cs typeface="Arial"/>
                <a:sym typeface="Arial"/>
              </a:rPr>
              <a:t>Title:</a:t>
            </a:r>
            <a:r>
              <a:rPr lang="en" sz="2200">
                <a:latin typeface="Arial"/>
                <a:ea typeface="Arial"/>
                <a:cs typeface="Arial"/>
                <a:sym typeface="Arial"/>
              </a:rPr>
              <a:t> Sentiment Classification of IMDb Movie Reviews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Subtitle: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 End-to-End NLP Pipeline</a:t>
            </a:r>
            <a:endParaRPr sz="4500"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3444752" y="37226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A report by Supriya I</a:t>
            </a:r>
            <a:endParaRPr sz="1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9th Nov,2025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87900" y="1245375"/>
            <a:ext cx="8368200" cy="33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Goal: Classify movie reviews as </a:t>
            </a:r>
            <a:r>
              <a:rPr b="1" lang="en" sz="1600">
                <a:latin typeface="Arial"/>
                <a:ea typeface="Arial"/>
                <a:cs typeface="Arial"/>
                <a:sym typeface="Arial"/>
              </a:rPr>
              <a:t>positive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lang="en" sz="1600">
                <a:latin typeface="Arial"/>
                <a:ea typeface="Arial"/>
                <a:cs typeface="Arial"/>
                <a:sym typeface="Arial"/>
              </a:rPr>
              <a:t>negative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Dataset: </a:t>
            </a:r>
            <a:r>
              <a:rPr b="1" lang="en" sz="1600">
                <a:latin typeface="Arial"/>
                <a:ea typeface="Arial"/>
                <a:cs typeface="Arial"/>
                <a:sym typeface="Arial"/>
              </a:rPr>
              <a:t>IMDb Movie Reviews Dataset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 (labeled reviews).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Challenge: Reviews are </a:t>
            </a:r>
            <a:r>
              <a:rPr b="1" lang="en" sz="1600">
                <a:latin typeface="Arial"/>
                <a:ea typeface="Arial"/>
                <a:cs typeface="Arial"/>
                <a:sym typeface="Arial"/>
              </a:rPr>
              <a:t>unstructured text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, require NLP preprocessing.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Evaluation Metrics: </a:t>
            </a:r>
            <a:r>
              <a:rPr b="1" lang="en" sz="1600">
                <a:latin typeface="Arial"/>
                <a:ea typeface="Arial"/>
                <a:cs typeface="Arial"/>
                <a:sym typeface="Arial"/>
              </a:rPr>
              <a:t>Accuracy, F1-score, Precision, Recall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8875" y="3305575"/>
            <a:ext cx="2076525" cy="1609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idx="4294967295" type="title"/>
          </p:nvPr>
        </p:nvSpPr>
        <p:spPr>
          <a:xfrm>
            <a:off x="311700" y="369425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Workflow / Approach</a:t>
            </a:r>
            <a:endParaRPr/>
          </a:p>
        </p:txBody>
      </p:sp>
      <p:cxnSp>
        <p:nvCxnSpPr>
          <p:cNvPr id="77" name="Google Shape;77;p15"/>
          <p:cNvCxnSpPr/>
          <p:nvPr/>
        </p:nvCxnSpPr>
        <p:spPr>
          <a:xfrm>
            <a:off x="418675" y="1811883"/>
            <a:ext cx="2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15"/>
          <p:cNvSpPr txBox="1"/>
          <p:nvPr>
            <p:ph idx="4294967295" type="body"/>
          </p:nvPr>
        </p:nvSpPr>
        <p:spPr>
          <a:xfrm>
            <a:off x="311700" y="1266425"/>
            <a:ext cx="8636100" cy="3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Text Preprocessing: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lowercase, remove HTML, tokenize, lemmatize, remove stopwords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Feature Extraction: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TF-IDF vectorization (unigrams, bigrams, max_features limit)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Model Training: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Logistic Regression, Linear SVM, Multinomial Naive Bayes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Cross-Validation: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k-fold stratified CV for robust evaluation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Hyperparameter Tuning: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GridSearchCV/RandomizedSearchCV to optimize TF-IDF and model parameters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Evaluation: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Accuracy, F1-score, confusion matrix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Pipeline: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Modular, reusable workflow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/>
              <a:t> </a:t>
            </a:r>
            <a:endParaRPr sz="1400"/>
          </a:p>
        </p:txBody>
      </p:sp>
      <p:cxnSp>
        <p:nvCxnSpPr>
          <p:cNvPr id="79" name="Google Shape;79;p15"/>
          <p:cNvCxnSpPr/>
          <p:nvPr/>
        </p:nvCxnSpPr>
        <p:spPr>
          <a:xfrm>
            <a:off x="5012725" y="1811883"/>
            <a:ext cx="2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0"/>
            <a:ext cx="9161100" cy="2484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 txBox="1"/>
          <p:nvPr>
            <p:ph idx="4294967295" type="title"/>
          </p:nvPr>
        </p:nvSpPr>
        <p:spPr>
          <a:xfrm>
            <a:off x="174975" y="4251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Model Performance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86" name="Google Shape;86;p16"/>
          <p:cNvGraphicFramePr/>
          <p:nvPr/>
        </p:nvGraphicFramePr>
        <p:xfrm>
          <a:off x="1160600" y="1416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{E8916E17-5973-4076-B619-984AA0BE7B1D}</a:tableStyleId>
              </a:tblPr>
              <a:tblGrid>
                <a:gridCol w="1461725"/>
                <a:gridCol w="753350"/>
                <a:gridCol w="674650"/>
              </a:tblGrid>
              <a:tr h="741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Model</a:t>
                      </a:r>
                      <a:endParaRPr b="1" sz="11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Accuracy</a:t>
                      </a:r>
                      <a:endParaRPr b="1" sz="1100"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F1-score</a:t>
                      </a:r>
                      <a:endParaRPr b="1" sz="1100"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79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Logistic Regression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0.8921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0.89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79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Linear SVM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0.8921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0.89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79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Multinomial NB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0.8551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0.86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87" name="Google Shape;87;p16"/>
          <p:cNvSpPr txBox="1"/>
          <p:nvPr/>
        </p:nvSpPr>
        <p:spPr>
          <a:xfrm>
            <a:off x="4510600" y="2768400"/>
            <a:ext cx="4127100" cy="237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Observation:</a:t>
            </a:r>
            <a:r>
              <a:rPr lang="en" sz="1500">
                <a:solidFill>
                  <a:schemeClr val="dk1"/>
                </a:solidFill>
              </a:rPr>
              <a:t> Logistic Regression &amp; Linear SVM performed best.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Multinomial NB:</a:t>
            </a:r>
            <a:r>
              <a:rPr lang="en" sz="1500">
                <a:solidFill>
                  <a:schemeClr val="dk1"/>
                </a:solidFill>
              </a:rPr>
              <a:t> Slightly lower accuracy/F1.</a:t>
            </a:r>
            <a:br>
              <a:rPr lang="en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265500" y="1355775"/>
            <a:ext cx="4045200" cy="150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Model</a:t>
            </a:r>
            <a:endParaRPr/>
          </a:p>
        </p:txBody>
      </p:sp>
      <p:sp>
        <p:nvSpPr>
          <p:cNvPr id="93" name="Google Shape;93;p1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Reasons:</a:t>
            </a:r>
            <a:br>
              <a:rPr b="1" lang="en" sz="1500">
                <a:latin typeface="Arial"/>
                <a:ea typeface="Arial"/>
                <a:cs typeface="Arial"/>
                <a:sym typeface="Arial"/>
              </a:rPr>
            </a:b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High accuracy &amp; F1-score (0.892 / 0.89)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Balanced performance across positive and negative classes</a:t>
            </a:r>
            <a:br>
              <a:rPr lang="en" sz="15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Fast training and interpretable coefficients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94" name="Google Shape;94;p17"/>
          <p:cNvSpPr txBox="1"/>
          <p:nvPr/>
        </p:nvSpPr>
        <p:spPr>
          <a:xfrm>
            <a:off x="603775" y="2787400"/>
            <a:ext cx="383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Selected Model:</a:t>
            </a:r>
            <a:r>
              <a:rPr lang="en" sz="1600">
                <a:solidFill>
                  <a:schemeClr val="dk1"/>
                </a:solidFill>
              </a:rPr>
              <a:t> Logistic Regression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idx="2" type="body"/>
          </p:nvPr>
        </p:nvSpPr>
        <p:spPr>
          <a:xfrm>
            <a:off x="4992100" y="101872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TF-IDF is effective for capturing sentiment features.</a:t>
            </a:r>
            <a:br>
              <a:rPr lang="en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Cross-validation ensures 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robust evaluation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Hyperparameter tuning improves 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performance and reduces overfitting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Modular pipelines make the workflow 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reusable and scalable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100" name="Google Shape;100;p18"/>
          <p:cNvSpPr txBox="1"/>
          <p:nvPr>
            <p:ph type="title"/>
          </p:nvPr>
        </p:nvSpPr>
        <p:spPr>
          <a:xfrm>
            <a:off x="265500" y="1818600"/>
            <a:ext cx="4045200" cy="150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869400" y="258725"/>
            <a:ext cx="6271800" cy="135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06" name="Google Shape;106;p19"/>
          <p:cNvSpPr txBox="1"/>
          <p:nvPr/>
        </p:nvSpPr>
        <p:spPr>
          <a:xfrm>
            <a:off x="845550" y="2613825"/>
            <a:ext cx="74529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Logistic Regression chosen as </a:t>
            </a:r>
            <a:r>
              <a:rPr b="1" lang="en" sz="1500">
                <a:solidFill>
                  <a:schemeClr val="dk1"/>
                </a:solidFill>
              </a:rPr>
              <a:t>best model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Workflow is </a:t>
            </a:r>
            <a:r>
              <a:rPr b="1" lang="en" sz="1500">
                <a:solidFill>
                  <a:schemeClr val="dk1"/>
                </a:solidFill>
              </a:rPr>
              <a:t>modular, reusable, and ready for deployment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Demonstrates </a:t>
            </a:r>
            <a:r>
              <a:rPr b="1" lang="en" sz="1500">
                <a:solidFill>
                  <a:schemeClr val="dk1"/>
                </a:solidFill>
              </a:rPr>
              <a:t>modern NLP techniques</a:t>
            </a:r>
            <a:r>
              <a:rPr lang="en" sz="1500">
                <a:solidFill>
                  <a:schemeClr val="dk1"/>
                </a:solidFill>
              </a:rPr>
              <a:t> for sentiment analysis on unstructured text.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869400" y="1761975"/>
            <a:ext cx="6895200" cy="400200"/>
          </a:xfrm>
          <a:prstGeom prst="rect">
            <a:avLst/>
          </a:prstGeom>
          <a:solidFill>
            <a:srgbClr val="6FA8D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Raw Review → Preprocessing → TF-IDF → Model → Prediction</a:t>
            </a:r>
            <a:r>
              <a:rPr lang="en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/>
          <p:nvPr/>
        </p:nvSpPr>
        <p:spPr>
          <a:xfrm>
            <a:off x="-8550" y="0"/>
            <a:ext cx="9161100" cy="2484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0"/>
          <p:cNvSpPr txBox="1"/>
          <p:nvPr>
            <p:ph idx="4294967295" type="title"/>
          </p:nvPr>
        </p:nvSpPr>
        <p:spPr>
          <a:xfrm>
            <a:off x="478350" y="2140275"/>
            <a:ext cx="8520600" cy="733500"/>
          </a:xfrm>
          <a:prstGeom prst="rect">
            <a:avLst/>
          </a:prstGeom>
          <a:solidFill>
            <a:schemeClr val="lt2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accent1"/>
                </a:solidFill>
              </a:rPr>
              <a:t>THANK YOU</a:t>
            </a:r>
            <a:endParaRPr sz="44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